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95300"/>
            <a:ext cx="444500" cy="444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57300" y="495300"/>
            <a:ext cx="0" cy="457200"/>
          </a:xfrm>
          <a:prstGeom prst="line">
            <a:avLst/>
          </a:prstGeom>
          <a:noFill/>
          <a:ln w="8890">
            <a:solidFill>
              <a:srgbClr val="BAD5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35100" y="4699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30" kern="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University of Tokyo Hospital</a:t>
            </a:r>
            <a:endParaRPr lang="ja-JP" sz="1200" dirty="0"/>
          </a:p>
        </p:txBody>
      </p:sp>
      <p:sp>
        <p:nvSpPr>
          <p:cNvPr id="6" name="Text 3"/>
          <p:cNvSpPr/>
          <p:nvPr/>
        </p:nvSpPr>
        <p:spPr>
          <a:xfrm>
            <a:off x="1435100" y="7112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600" spc="30" kern="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Clinical Research Promotion Center</a:t>
            </a:r>
            <a:endParaRPr lang="ja-JP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1727200"/>
            <a:ext cx="10972800" cy="3302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600" y="1727200"/>
            <a:ext cx="38100" cy="33020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From an EHR Form to SDTM</a:t>
            </a:r>
            <a:endParaRPr lang="ja-JP" sz="38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JASPEHR, FHIR and CDISC: a year on</a:t>
            </a:r>
            <a:endParaRPr lang="ja-JP" sz="2200" dirty="0"/>
          </a:p>
        </p:txBody>
      </p:sp>
      <p:sp>
        <p:nvSpPr>
          <p:cNvPr id="11" name="Shape 6"/>
          <p:cNvSpPr/>
          <p:nvPr/>
        </p:nvSpPr>
        <p:spPr>
          <a:xfrm>
            <a:off x="10718800" y="4978400"/>
            <a:ext cx="863600" cy="50800"/>
          </a:xfrm>
          <a:prstGeom prst="rect">
            <a:avLst/>
          </a:prstGeom>
          <a:solidFill>
            <a:srgbClr val="D3ECF0"/>
          </a:solidFill>
          <a:ln w="12700">
            <a:solidFill>
              <a:srgbClr val="D3ECF0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252200" y="4978400"/>
            <a:ext cx="330200" cy="50800"/>
          </a:xfrm>
          <a:prstGeom prst="rect">
            <a:avLst/>
          </a:prstGeom>
          <a:solidFill>
            <a:srgbClr val="F3CE58"/>
          </a:solidFill>
          <a:ln w="12700">
            <a:solidFill>
              <a:srgbClr val="F3CE58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Toshiki Saito, MD, PhD</a:t>
            </a:r>
            <a:endParaRPr lang="ja-JP" sz="17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Director, Clinical Research Promotion Center, The University of Tokyo Hospital</a:t>
            </a:r>
            <a:endParaRPr lang="ja-JP" sz="1200" dirty="0"/>
          </a:p>
        </p:txBody>
      </p:sp>
      <p:sp>
        <p:nvSpPr>
          <p:cNvPr id="15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35000"/>
              </a:lnSpc>
              <a:buNone/>
              <a:def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October 8, 2026 · Nashville</a:t>
            </a:r>
            <a:endParaRPr lang="ja-JP" sz="1200" dirty="0"/>
          </a:p>
        </p:txBody>
      </p:sp>
      <p:sp>
        <p:nvSpPr>
          <p:cNvPr id="16" name="Text 8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ROW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JASPEHR in one slide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0795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1066800"/>
            <a:ext cx="419100" cy="254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publicly funded, vendor-neutral form format for Japanese EHRs, started by Prof. Kengo Miyo.</a:t>
            </a:r>
            <a:endParaRPr lang="ja-JP" sz="2000" dirty="0"/>
          </a:p>
        </p:txBody>
      </p:sp>
      <p:sp>
        <p:nvSpPr>
          <p:cNvPr id="9" name="Shape 5"/>
          <p:cNvSpPr/>
          <p:nvPr/>
        </p:nvSpPr>
        <p:spPr>
          <a:xfrm>
            <a:off x="609600" y="22098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600" y="24892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2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Common forms</a:t>
            </a:r>
            <a:endParaRPr lang="ja-JP" sz="20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common form master. Each EHR vendor converts it into its own template engine.</a:t>
            </a:r>
            <a:endParaRPr lang="ja-JP" sz="2000" dirty="0"/>
          </a:p>
        </p:txBody>
      </p:sp>
      <p:sp>
        <p:nvSpPr>
          <p:cNvPr id="13" name="Shape 7"/>
          <p:cNvSpPr/>
          <p:nvPr/>
        </p:nvSpPr>
        <p:spPr>
          <a:xfrm>
            <a:off x="609600" y="35814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63600" y="38608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FHIR</a:t>
            </a:r>
            <a:endParaRPr lang="ja-JP" sz="20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Built on FHIR Questionnaire and QuestionnaireResponse.</a:t>
            </a:r>
            <a:endParaRPr lang="ja-JP" sz="2000" dirty="0"/>
          </a:p>
        </p:txBody>
      </p:sp>
      <p:sp>
        <p:nvSpPr>
          <p:cNvPr id="17" name="Shape 9"/>
          <p:cNvSpPr/>
          <p:nvPr/>
        </p:nvSpPr>
        <p:spPr>
          <a:xfrm>
            <a:off x="609600" y="49530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863600" y="52324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200" dirty="0"/>
          </a:p>
        </p:txBody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Vendors</a:t>
            </a:r>
            <a:endParaRPr lang="ja-JP" sz="20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NEC, Fujitsu, IBM and FINDEX take part. Our working group adds CDISC to it.</a:t>
            </a:r>
            <a:endParaRPr lang="ja-JP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FL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demo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0795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1066800"/>
            <a:ext cx="419100" cy="254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All four sit on one terminology server, running as a pilot. The form reads them at the point of entry.</a:t>
            </a:r>
            <a:endParaRPr lang="ja-JP" sz="2000" dirty="0"/>
          </a:p>
        </p:txBody>
      </p:sp>
      <p:sp>
        <p:nvSpPr>
          <p:cNvPr id="9" name="Shape 5"/>
          <p:cNvSpPr/>
          <p:nvPr/>
        </p:nvSpPr>
        <p:spPr>
          <a:xfrm>
            <a:off x="6096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6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1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8636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Server</a:t>
            </a:r>
            <a:endParaRPr lang="ja-JP" sz="2600" dirty="0"/>
          </a:p>
        </p:txBody>
      </p:sp>
      <p:sp>
        <p:nvSpPr>
          <p:cNvPr id="12" name="Shape 7"/>
          <p:cNvSpPr/>
          <p:nvPr/>
        </p:nvSpPr>
        <p:spPr>
          <a:xfrm>
            <a:off x="8636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8636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HAPI FHIR holds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four terminologies.</a:t>
            </a:r>
            <a:endParaRPr lang="ja-JP" sz="2000" dirty="0"/>
          </a:p>
        </p:txBody>
      </p:sp>
      <p:sp>
        <p:nvSpPr>
          <p:cNvPr id="14" name="Text 8"/>
          <p:cNvSpPr/>
          <p:nvPr/>
        </p:nvSpPr>
        <p:spPr>
          <a:xfrm>
            <a:off x="4076700" y="3556000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ja-JP" sz="2200" dirty="0"/>
          </a:p>
        </p:txBody>
      </p:sp>
      <p:sp>
        <p:nvSpPr>
          <p:cNvPr id="15" name="Shape 9"/>
          <p:cNvSpPr/>
          <p:nvPr/>
        </p:nvSpPr>
        <p:spPr>
          <a:xfrm>
            <a:off x="43688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228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1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46228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Form</a:t>
            </a:r>
            <a:endParaRPr lang="ja-JP" sz="2600" dirty="0"/>
          </a:p>
        </p:txBody>
      </p:sp>
      <p:sp>
        <p:nvSpPr>
          <p:cNvPr id="18" name="Shape 11"/>
          <p:cNvSpPr/>
          <p:nvPr/>
        </p:nvSpPr>
        <p:spPr>
          <a:xfrm>
            <a:off x="46228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46228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EHR form saves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FHIR answers.</a:t>
            </a:r>
            <a:endParaRPr lang="ja-JP" sz="2000" dirty="0"/>
          </a:p>
        </p:txBody>
      </p:sp>
      <p:sp>
        <p:nvSpPr>
          <p:cNvPr id="20" name="Text 12"/>
          <p:cNvSpPr/>
          <p:nvPr/>
        </p:nvSpPr>
        <p:spPr>
          <a:xfrm>
            <a:off x="7835900" y="3556000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ja-JP" sz="2200" dirty="0"/>
          </a:p>
        </p:txBody>
      </p:sp>
      <p:sp>
        <p:nvSpPr>
          <p:cNvPr id="21" name="Shape 13"/>
          <p:cNvSpPr/>
          <p:nvPr/>
        </p:nvSpPr>
        <p:spPr>
          <a:xfrm>
            <a:off x="81280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3820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100" dirty="0"/>
          </a:p>
        </p:txBody>
      </p:sp>
      <p:sp>
        <p:nvSpPr>
          <p:cNvPr id="23" name="Text 15"/>
          <p:cNvSpPr/>
          <p:nvPr>
            <p:ph idx="121" type="body" hasCustomPrompt="1"/>
          </p:nvPr>
        </p:nvSpPr>
        <p:spPr>
          <a:xfrm>
            <a:off x="83820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SDTM</a:t>
            </a:r>
            <a:endParaRPr lang="ja-JP" sz="2600" dirty="0"/>
          </a:p>
        </p:txBody>
      </p:sp>
      <p:sp>
        <p:nvSpPr>
          <p:cNvPr id="24" name="Shape 15"/>
          <p:cNvSpPr/>
          <p:nvPr/>
        </p:nvSpPr>
        <p:spPr>
          <a:xfrm>
            <a:off x="83820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25" name="Text 16"/>
          <p:cNvSpPr/>
          <p:nvPr>
            <p:ph idx="123" type="body" hasCustomPrompt="1"/>
          </p:nvPr>
        </p:nvSpPr>
        <p:spPr>
          <a:xfrm>
            <a:off x="83820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script builds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AE dataset.</a:t>
            </a:r>
            <a:endParaRPr lang="ja-JP" sz="2000" dirty="0"/>
          </a:p>
        </p:txBody>
      </p:sp>
      <p:sp>
        <p:nvSpPr>
          <p:cNvPr id="26" name="Shape 16"/>
          <p:cNvSpPr/>
          <p:nvPr/>
        </p:nvSpPr>
        <p:spPr>
          <a:xfrm>
            <a:off x="609600" y="56261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609600" y="5613400"/>
            <a:ext cx="330200" cy="25400"/>
          </a:xfrm>
          <a:prstGeom prst="rect">
            <a:avLst/>
          </a:prstGeom>
          <a:solidFill>
            <a:srgbClr val="F3CE58"/>
          </a:solidFill>
          <a:ln w="12700">
            <a:solidFill>
              <a:srgbClr val="F3CE58">
                <a:alpha val="0"/>
              </a:srgbClr>
            </a:solidFill>
            <a:prstDash val="solid"/>
          </a:ln>
        </p:spPr>
      </p:sp>
      <p:sp>
        <p:nvSpPr>
          <p:cNvPr id="28" name="Text 18"/>
          <p:cNvSpPr/>
          <p:nvPr>
            <p:ph idx="126" type="body" hasCustomPrompt="1"/>
          </p:nvPr>
        </p:nvSpPr>
        <p:spPr>
          <a:xfrm>
            <a:off x="609600" y="5791200"/>
            <a:ext cx="10972800" cy="469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Standard codes at entry. No mapping step afterwards.</a:t>
            </a:r>
            <a:endParaRPr lang="ja-JP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From an EHR Form to SDTM</a:t>
            </a:r>
            <a:endParaRPr lang="ja-JP" sz="3800" dirty="0"/>
          </a:p>
        </p:txBody>
      </p:sp>
      <p:sp>
        <p:nvSpPr>
          <p:cNvPr id="3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JASPEHR, FHIR and CDISC: a year on</a:t>
            </a:r>
            <a:endParaRPr lang="ja-JP" sz="22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Toshiki Saito, MD, PhD</a:t>
            </a:r>
            <a:endParaRPr lang="ja-JP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Director, Clinical Research Promotion Center, The University of Tokyo Hospital</a:t>
            </a:r>
            <a:endParaRPr lang="ja-JP" sz="12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October 8, 2026 · Nashville</a:t>
            </a:r>
            <a:endParaRPr lang="ja-JP" sz="1200" dirty="0"/>
          </a:p>
        </p:txBody>
      </p:sp>
      <p:sp>
        <p:nvSpPr>
          <p:cNvPr id="7" name="Text 5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JASPEHR in one slide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publicly funded, vendor-neutral form format for Japanese EHRs, started by Prof. Kengo Miyo.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Common forms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common form master. Each EHR vendor converts it into its own template engine.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FHIR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Built on FHIR Questionnaire and QuestionnaireResponse.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Vendors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NEC, Fujitsu, IBM and FINDEX take part. Our working group adds CDISC to it.</a:t>
            </a:r>
            <a:endParaRPr lang="ja-JP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Four kinds of metadata in each item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Each form item names the SDTM variable it fills, such as AE.AESER, and takes its answers from three terminologies.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CDISC CT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About 1,180 controlled terminologies, each as a FHIR CodeSystem.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MedDRA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Adverse events: about 90,000 lowest level terms.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WHODrug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Drugs, linked to the Japanese drug master used in EHRs.</a:t>
            </a:r>
            <a:endParaRPr lang="ja-JP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demo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All four sit on one terminology server, running as a pilot. The form reads them at the point of entry.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8636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Server</a:t>
            </a:r>
            <a:endParaRPr lang="ja-JP" sz="2600" dirty="0"/>
          </a:p>
        </p:txBody>
      </p:sp>
      <p:sp>
        <p:nvSpPr>
          <p:cNvPr id="6" name="Text 8"/>
          <p:cNvSpPr/>
          <p:nvPr>
            <p:ph idx="111" type="body" hasCustomPrompt="1"/>
          </p:nvPr>
        </p:nvSpPr>
        <p:spPr>
          <a:xfrm>
            <a:off x="8636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HAPI FHIR holds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four terminologies.</a:t>
            </a:r>
            <a:endParaRPr lang="ja-JP" sz="2000" dirty="0"/>
          </a:p>
        </p:txBody>
      </p:sp>
      <p:sp>
        <p:nvSpPr>
          <p:cNvPr id="7" name="Text 11"/>
          <p:cNvSpPr/>
          <p:nvPr>
            <p:ph idx="115" type="body" hasCustomPrompt="1"/>
          </p:nvPr>
        </p:nvSpPr>
        <p:spPr>
          <a:xfrm>
            <a:off x="46228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Form</a:t>
            </a:r>
            <a:endParaRPr lang="ja-JP" sz="2600" dirty="0"/>
          </a:p>
        </p:txBody>
      </p:sp>
      <p:sp>
        <p:nvSpPr>
          <p:cNvPr id="8" name="Text 12"/>
          <p:cNvSpPr/>
          <p:nvPr>
            <p:ph idx="117" type="body" hasCustomPrompt="1"/>
          </p:nvPr>
        </p:nvSpPr>
        <p:spPr>
          <a:xfrm>
            <a:off x="46228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EHR form saves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FHIR answers.</a:t>
            </a:r>
            <a:endParaRPr lang="ja-JP" sz="2000" dirty="0"/>
          </a:p>
        </p:txBody>
      </p:sp>
      <p:sp>
        <p:nvSpPr>
          <p:cNvPr id="9" name="Text 15"/>
          <p:cNvSpPr/>
          <p:nvPr>
            <p:ph idx="121" type="body" hasCustomPrompt="1"/>
          </p:nvPr>
        </p:nvSpPr>
        <p:spPr>
          <a:xfrm>
            <a:off x="83820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SDTM</a:t>
            </a:r>
            <a:endParaRPr lang="ja-JP" sz="2600" dirty="0"/>
          </a:p>
        </p:txBody>
      </p:sp>
      <p:sp>
        <p:nvSpPr>
          <p:cNvPr id="10" name="Text 16"/>
          <p:cNvSpPr/>
          <p:nvPr>
            <p:ph idx="123" type="body" hasCustomPrompt="1"/>
          </p:nvPr>
        </p:nvSpPr>
        <p:spPr>
          <a:xfrm>
            <a:off x="83820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script builds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AE dataset.</a:t>
            </a:r>
            <a:endParaRPr lang="ja-JP" sz="2000" dirty="0"/>
          </a:p>
        </p:txBody>
      </p:sp>
      <p:sp>
        <p:nvSpPr>
          <p:cNvPr id="11" name="Text 18"/>
          <p:cNvSpPr/>
          <p:nvPr>
            <p:ph idx="126" type="body" hasCustomPrompt="1"/>
          </p:nvPr>
        </p:nvSpPr>
        <p:spPr>
          <a:xfrm>
            <a:off x="609600" y="5791200"/>
            <a:ext cx="1097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Standard codes at entry. No mapping step afterwards.</a:t>
            </a:r>
            <a:endParaRPr lang="ja-JP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comes next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specification follows once CDISC's identifiers are set.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 19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Our working group meets the JASPEHR vendors. NEC is turning this into version 1.2 of the specification with us.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CDISC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 Oct 2 CDISC decided to use persistent identifiers. The details are still under discussion.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 you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Once they are set, we send you the spec and the FHIR code systems.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an EHR Form to SDTM (Vanderbilt, 1 pm)</dc:title>
  <dc:subject>UTokyo CRPC Slide System 1.1.0</dc:subject>
  <dc:creator/>
  <cp:lastModifiedBy/>
  <cp:revision>1</cp:revision>
  <dcterms:created xsi:type="dcterms:W3CDTF">2026-10-07T11:30:22Z</dcterms:created>
  <dcterms:modified xsi:type="dcterms:W3CDTF">2026-10-07T11:30:22Z</dcterms:modified>
</cp:coreProperties>
</file>