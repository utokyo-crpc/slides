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system: UTokyo CRPC Slide System 1.1.0。内容の正本は制作元のcontent.json。本文の自動縮小は禁止。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PC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95300"/>
            <a:ext cx="444500" cy="444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57300" y="495300"/>
            <a:ext cx="0" cy="457200"/>
          </a:xfrm>
          <a:prstGeom prst="line">
            <a:avLst/>
          </a:prstGeom>
          <a:noFill/>
          <a:ln w="8890">
            <a:solidFill>
              <a:srgbClr val="BAD5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35100" y="4699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30" kern="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University of Tokyo Hospital</a:t>
            </a:r>
            <a:endParaRPr lang="ja-JP" sz="1200" dirty="0"/>
          </a:p>
        </p:txBody>
      </p:sp>
      <p:sp>
        <p:nvSpPr>
          <p:cNvPr id="6" name="Text 3"/>
          <p:cNvSpPr/>
          <p:nvPr/>
        </p:nvSpPr>
        <p:spPr>
          <a:xfrm>
            <a:off x="1435100" y="711200"/>
            <a:ext cx="584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600" spc="30" kern="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Clinical Research Promotion Center</a:t>
            </a:r>
            <a:endParaRPr lang="ja-JP" sz="1600" dirty="0"/>
          </a:p>
        </p:txBody>
      </p:sp>
      <p:sp>
        <p:nvSpPr>
          <p:cNvPr id="7" name="Shape 4"/>
          <p:cNvSpPr/>
          <p:nvPr/>
        </p:nvSpPr>
        <p:spPr>
          <a:xfrm>
            <a:off x="609600" y="1727200"/>
            <a:ext cx="10972800" cy="3302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9600" y="1727200"/>
            <a:ext cx="38100" cy="3302000"/>
          </a:xfrm>
          <a:prstGeom prst="rect">
            <a:avLst/>
          </a:prstGeom>
          <a:solidFill>
            <a:srgbClr val="009FB7"/>
          </a:solidFill>
          <a:ln w="12700">
            <a:solidFill>
              <a:srgbClr val="009FB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>
            <p:ph idx="107" type="title" hasCustomPrompt="1"/>
          </p:nvPr>
        </p:nvSpPr>
        <p:spPr>
          <a:xfrm>
            <a:off x="1016000" y="2667000"/>
            <a:ext cx="101600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ja-JP" altLang="en-US" sz="38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ja-JP" altLang="en-US" sz="38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Valuing the Hub Function</a:t>
            </a:r>
            <a:endParaRPr lang="ja-JP" sz="38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1028700" y="3632200"/>
            <a:ext cx="10134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2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Crediting support for other institutions' research</a:t>
            </a:r>
            <a:endParaRPr lang="ja-JP" sz="2200" dirty="0"/>
          </a:p>
        </p:txBody>
      </p:sp>
      <p:sp>
        <p:nvSpPr>
          <p:cNvPr id="11" name="Shape 6"/>
          <p:cNvSpPr/>
          <p:nvPr/>
        </p:nvSpPr>
        <p:spPr>
          <a:xfrm>
            <a:off x="10718800" y="4978400"/>
            <a:ext cx="863600" cy="50800"/>
          </a:xfrm>
          <a:prstGeom prst="rect">
            <a:avLst/>
          </a:prstGeom>
          <a:solidFill>
            <a:srgbClr val="D3ECF0"/>
          </a:solidFill>
          <a:ln w="12700">
            <a:solidFill>
              <a:srgbClr val="D3ECF0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1252200" y="4978400"/>
            <a:ext cx="330200" cy="50800"/>
          </a:xfrm>
          <a:prstGeom prst="rect">
            <a:avLst/>
          </a:prstGeom>
          <a:solidFill>
            <a:srgbClr val="F3CE58"/>
          </a:solidFill>
          <a:ln w="12700">
            <a:solidFill>
              <a:srgbClr val="F3CE58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609600" y="5435600"/>
            <a:ext cx="3810000" cy="33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17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17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T. Saito</a:t>
            </a:r>
            <a:endParaRPr lang="ja-JP" sz="1700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609600" y="5791200"/>
            <a:ext cx="8001000" cy="279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Director, CRPC, UTokyo Hospital</a:t>
            </a:r>
            <a:endParaRPr lang="ja-JP" sz="1200" dirty="0"/>
          </a:p>
        </p:txBody>
      </p:sp>
      <p:sp>
        <p:nvSpPr>
          <p:cNvPr id="15" name="Text 8"/>
          <p:cNvSpPr/>
          <p:nvPr>
            <p:ph idx="113" type="body" hasCustomPrompt="1"/>
          </p:nvPr>
        </p:nvSpPr>
        <p:spPr>
          <a:xfrm>
            <a:off x="8915400" y="5486400"/>
            <a:ext cx="2667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135000"/>
              </a:lnSpc>
              <a:buNone/>
              <a:def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r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October 8, 2026 · VICTR</a:t>
            </a:r>
            <a:endParaRPr lang="ja-JP" sz="1200" dirty="0"/>
          </a:p>
        </p:txBody>
      </p:sp>
      <p:sp>
        <p:nvSpPr>
          <p:cNvPr id="16" name="Text 8"/>
          <p:cNvSpPr/>
          <p:nvPr/>
        </p:nvSpPr>
        <p:spPr>
          <a:xfrm>
            <a:off x="609600" y="6477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800" spc="120" kern="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TOKYO HOSPITAL  /  CLINICAL RESEARCH PROMOTION CENTER</a:t>
            </a:r>
            <a:endParaRPr lang="ja-JP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PC_ROW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41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Where we stand</a:t>
            </a:r>
            <a:endParaRPr lang="ja-JP" sz="2600" dirty="0"/>
          </a:p>
        </p:txBody>
      </p:sp>
      <p:sp>
        <p:nvSpPr>
          <p:cNvPr id="5" name="Shape 2"/>
          <p:cNvSpPr/>
          <p:nvPr/>
        </p:nvSpPr>
        <p:spPr>
          <a:xfrm>
            <a:off x="609600" y="1079500"/>
            <a:ext cx="10972800" cy="0"/>
          </a:xfrm>
          <a:prstGeom prst="line">
            <a:avLst/>
          </a:prstGeom>
          <a:noFill/>
          <a:ln w="8890">
            <a:solidFill>
              <a:srgbClr val="D7E6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1066800"/>
            <a:ext cx="419100" cy="25400"/>
          </a:xfrm>
          <a:prstGeom prst="rect">
            <a:avLst/>
          </a:prstGeom>
          <a:solidFill>
            <a:srgbClr val="009FB7"/>
          </a:solidFill>
          <a:ln w="12700">
            <a:solidFill>
              <a:srgbClr val="009FB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600" y="6477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800" spc="120" kern="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TOKYO HOSPITAL  /  CLINICAL RESEARCH PROMOTION CENTER</a:t>
            </a:r>
            <a:endParaRPr lang="ja-JP" sz="80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Not one hospital's site visit. We speak for a national system and ask how it should measure a research hub.</a:t>
            </a:r>
            <a:endParaRPr lang="ja-JP" sz="2000" dirty="0"/>
          </a:p>
        </p:txBody>
      </p:sp>
      <p:sp>
        <p:nvSpPr>
          <p:cNvPr id="9" name="Shape 5"/>
          <p:cNvSpPr/>
          <p:nvPr/>
        </p:nvSpPr>
        <p:spPr>
          <a:xfrm>
            <a:off x="609600" y="2209800"/>
            <a:ext cx="10972800" cy="12700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3600" y="2489200"/>
            <a:ext cx="31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10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ja-JP" sz="12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UTokyo</a:t>
            </a:r>
            <a:endParaRPr lang="ja-JP" sz="2000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Director of the ARO at UTokyo Hospital, itself a Core Clinical Research Hospital.</a:t>
            </a:r>
            <a:endParaRPr lang="ja-JP" sz="2000" dirty="0"/>
          </a:p>
        </p:txBody>
      </p:sp>
      <p:sp>
        <p:nvSpPr>
          <p:cNvPr id="13" name="Shape 7"/>
          <p:cNvSpPr/>
          <p:nvPr/>
        </p:nvSpPr>
        <p:spPr>
          <a:xfrm>
            <a:off x="609600" y="3581400"/>
            <a:ext cx="10972800" cy="12700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>
                <a:alpha val="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63600" y="3860800"/>
            <a:ext cx="31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10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ja-JP" sz="12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NUH-CRPI</a:t>
            </a:r>
            <a:endParaRPr lang="ja-JP" sz="200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Representative Secretary of the council of all national university hospitals: 42 universities, 44 hospitals.</a:t>
            </a:r>
            <a:endParaRPr lang="ja-JP" sz="2000" dirty="0"/>
          </a:p>
        </p:txBody>
      </p:sp>
      <p:sp>
        <p:nvSpPr>
          <p:cNvPr id="17" name="Shape 9"/>
          <p:cNvSpPr/>
          <p:nvPr/>
        </p:nvSpPr>
        <p:spPr>
          <a:xfrm>
            <a:off x="609600" y="4953000"/>
            <a:ext cx="10972800" cy="1270000"/>
          </a:xfrm>
          <a:prstGeom prst="rect">
            <a:avLst/>
          </a:prstGeom>
          <a:solidFill>
            <a:srgbClr val="F1F8FA"/>
          </a:solidFill>
          <a:ln w="12700">
            <a:solidFill>
              <a:srgbClr val="F1F8FA">
                <a:alpha val="0"/>
              </a:srgbClr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863600" y="5232400"/>
            <a:ext cx="31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spc="10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ja-JP" sz="1200" dirty="0"/>
          </a:p>
        </p:txBody>
      </p:sp>
      <p:sp>
        <p:nvSpPr>
          <p:cNvPr id="1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J3C, AMED</a:t>
            </a:r>
            <a:endParaRPr lang="ja-JP" sz="2000" dirty="0"/>
          </a:p>
        </p:txBody>
      </p:sp>
      <p:sp>
        <p:nvSpPr>
          <p:cNvPr id="2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Vice Chair, Japan CDISC Coordinating Committee. AMED PI on data standards.</a:t>
            </a:r>
            <a:endParaRPr lang="ja-JP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PC_FLO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41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Three shifts we propose</a:t>
            </a:r>
            <a:endParaRPr lang="ja-JP" sz="2600" dirty="0"/>
          </a:p>
        </p:txBody>
      </p:sp>
      <p:sp>
        <p:nvSpPr>
          <p:cNvPr id="5" name="Shape 2"/>
          <p:cNvSpPr/>
          <p:nvPr/>
        </p:nvSpPr>
        <p:spPr>
          <a:xfrm>
            <a:off x="609600" y="1079500"/>
            <a:ext cx="10972800" cy="0"/>
          </a:xfrm>
          <a:prstGeom prst="line">
            <a:avLst/>
          </a:prstGeom>
          <a:noFill/>
          <a:ln w="8890">
            <a:solidFill>
              <a:srgbClr val="D7E6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1066800"/>
            <a:ext cx="419100" cy="25400"/>
          </a:xfrm>
          <a:prstGeom prst="rect">
            <a:avLst/>
          </a:prstGeom>
          <a:solidFill>
            <a:srgbClr val="009FB7"/>
          </a:solidFill>
          <a:ln w="12700">
            <a:solidFill>
              <a:srgbClr val="009FB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600" y="6477000"/>
            <a:ext cx="711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800" spc="120" kern="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TOKYO HOSPITAL  /  CLINICAL RESEARCH PROMOTION CENTER</a:t>
            </a:r>
            <a:endParaRPr lang="ja-JP" sz="80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Re-weight, do not abolish. Each shift has a working US counterpart in how NIH funds hubs and functions.</a:t>
            </a:r>
            <a:endParaRPr lang="ja-JP" sz="2000" dirty="0"/>
          </a:p>
        </p:txBody>
      </p:sp>
      <p:sp>
        <p:nvSpPr>
          <p:cNvPr id="9" name="Shape 5"/>
          <p:cNvSpPr/>
          <p:nvPr/>
        </p:nvSpPr>
        <p:spPr>
          <a:xfrm>
            <a:off x="609600" y="2476500"/>
            <a:ext cx="3454400" cy="2794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3600" y="27432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100" spc="12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ja-JP" sz="11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863600" y="3175000"/>
            <a:ext cx="29464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Outcomes</a:t>
            </a:r>
            <a:endParaRPr lang="ja-JP" sz="2600" dirty="0"/>
          </a:p>
        </p:txBody>
      </p:sp>
      <p:sp>
        <p:nvSpPr>
          <p:cNvPr id="12" name="Shape 7"/>
          <p:cNvSpPr/>
          <p:nvPr/>
        </p:nvSpPr>
        <p:spPr>
          <a:xfrm>
            <a:off x="863600" y="3835400"/>
            <a:ext cx="2946400" cy="0"/>
          </a:xfrm>
          <a:prstGeom prst="line">
            <a:avLst/>
          </a:prstGeom>
          <a:noFill/>
          <a:ln w="15240">
            <a:solidFill>
              <a:srgbClr val="ABD6DF"/>
            </a:solidFill>
            <a:prstDash val="solid"/>
          </a:ln>
        </p:spPr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863600" y="4064000"/>
            <a:ext cx="294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From trial counts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 approvals.</a:t>
            </a:r>
            <a:endParaRPr lang="ja-JP" sz="2000" dirty="0"/>
          </a:p>
        </p:txBody>
      </p:sp>
      <p:sp>
        <p:nvSpPr>
          <p:cNvPr id="14" name="Text 8"/>
          <p:cNvSpPr/>
          <p:nvPr/>
        </p:nvSpPr>
        <p:spPr>
          <a:xfrm>
            <a:off x="4076700" y="3556000"/>
            <a:ext cx="27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ja-JP" sz="2200" dirty="0"/>
          </a:p>
        </p:txBody>
      </p:sp>
      <p:sp>
        <p:nvSpPr>
          <p:cNvPr id="15" name="Shape 9"/>
          <p:cNvSpPr/>
          <p:nvPr/>
        </p:nvSpPr>
        <p:spPr>
          <a:xfrm>
            <a:off x="4368800" y="2476500"/>
            <a:ext cx="3454400" cy="2794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622800" y="27432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100" spc="12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ja-JP" sz="1100" dirty="0"/>
          </a:p>
        </p:txBody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4622800" y="3175000"/>
            <a:ext cx="29464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Support</a:t>
            </a:r>
            <a:endParaRPr lang="ja-JP" sz="2600" dirty="0"/>
          </a:p>
        </p:txBody>
      </p:sp>
      <p:sp>
        <p:nvSpPr>
          <p:cNvPr id="18" name="Shape 11"/>
          <p:cNvSpPr/>
          <p:nvPr/>
        </p:nvSpPr>
        <p:spPr>
          <a:xfrm>
            <a:off x="4622800" y="3835400"/>
            <a:ext cx="2946400" cy="0"/>
          </a:xfrm>
          <a:prstGeom prst="line">
            <a:avLst/>
          </a:prstGeom>
          <a:noFill/>
          <a:ln w="15240">
            <a:solidFill>
              <a:srgbClr val="ABD6DF"/>
            </a:solidFill>
            <a:prstDash val="solid"/>
          </a:ln>
        </p:spPr>
      </p:sp>
      <p:sp>
        <p:nvSpPr>
          <p:cNvPr id="19" name="Text 12"/>
          <p:cNvSpPr/>
          <p:nvPr>
            <p:ph idx="117" type="body" hasCustomPrompt="1"/>
          </p:nvPr>
        </p:nvSpPr>
        <p:spPr>
          <a:xfrm>
            <a:off x="4622800" y="4064000"/>
            <a:ext cx="294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Credit research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done elsewhere.</a:t>
            </a:r>
            <a:endParaRPr lang="ja-JP" sz="2000" dirty="0"/>
          </a:p>
        </p:txBody>
      </p:sp>
      <p:sp>
        <p:nvSpPr>
          <p:cNvPr id="20" name="Text 12"/>
          <p:cNvSpPr/>
          <p:nvPr/>
        </p:nvSpPr>
        <p:spPr>
          <a:xfrm>
            <a:off x="7835900" y="3556000"/>
            <a:ext cx="27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ja-JP" sz="2200" dirty="0"/>
          </a:p>
        </p:txBody>
      </p:sp>
      <p:sp>
        <p:nvSpPr>
          <p:cNvPr id="21" name="Shape 13"/>
          <p:cNvSpPr/>
          <p:nvPr/>
        </p:nvSpPr>
        <p:spPr>
          <a:xfrm>
            <a:off x="8128000" y="2476500"/>
            <a:ext cx="3454400" cy="2794000"/>
          </a:xfrm>
          <a:prstGeom prst="rect">
            <a:avLst/>
          </a:prstGeom>
          <a:solidFill>
            <a:srgbClr val="EDF8FA"/>
          </a:solidFill>
          <a:ln w="12700">
            <a:solidFill>
              <a:srgbClr val="EDF8FA">
                <a:alpha val="0"/>
              </a:srgbClr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8382000" y="2743200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100" spc="120" kern="0" dirty="0">
                <a:solidFill>
                  <a:srgbClr val="009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ja-JP" sz="1100" dirty="0"/>
          </a:p>
        </p:txBody>
      </p:sp>
      <p:sp>
        <p:nvSpPr>
          <p:cNvPr id="23" name="Text 15"/>
          <p:cNvSpPr/>
          <p:nvPr>
            <p:ph idx="121" type="body" hasCustomPrompt="1"/>
          </p:nvPr>
        </p:nvSpPr>
        <p:spPr>
          <a:xfrm>
            <a:off x="8382000" y="3175000"/>
            <a:ext cx="29464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Network</a:t>
            </a:r>
            <a:endParaRPr lang="ja-JP" sz="2600" dirty="0"/>
          </a:p>
        </p:txBody>
      </p:sp>
      <p:sp>
        <p:nvSpPr>
          <p:cNvPr id="24" name="Shape 15"/>
          <p:cNvSpPr/>
          <p:nvPr/>
        </p:nvSpPr>
        <p:spPr>
          <a:xfrm>
            <a:off x="8382000" y="3835400"/>
            <a:ext cx="2946400" cy="0"/>
          </a:xfrm>
          <a:prstGeom prst="line">
            <a:avLst/>
          </a:prstGeom>
          <a:noFill/>
          <a:ln w="15240">
            <a:solidFill>
              <a:srgbClr val="ABD6DF"/>
            </a:solidFill>
            <a:prstDash val="solid"/>
          </a:ln>
        </p:spPr>
      </p:sp>
      <p:sp>
        <p:nvSpPr>
          <p:cNvPr id="25" name="Text 16"/>
          <p:cNvSpPr/>
          <p:nvPr>
            <p:ph idx="123" type="body" hasCustomPrompt="1"/>
          </p:nvPr>
        </p:nvSpPr>
        <p:spPr>
          <a:xfrm>
            <a:off x="8382000" y="4064000"/>
            <a:ext cx="294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Core platform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plus networks.</a:t>
            </a:r>
            <a:endParaRPr lang="ja-JP" sz="2000" dirty="0"/>
          </a:p>
        </p:txBody>
      </p:sp>
      <p:sp>
        <p:nvSpPr>
          <p:cNvPr id="26" name="Shape 16"/>
          <p:cNvSpPr/>
          <p:nvPr/>
        </p:nvSpPr>
        <p:spPr>
          <a:xfrm>
            <a:off x="609600" y="5626100"/>
            <a:ext cx="10972800" cy="0"/>
          </a:xfrm>
          <a:prstGeom prst="line">
            <a:avLst/>
          </a:prstGeom>
          <a:noFill/>
          <a:ln w="8890">
            <a:solidFill>
              <a:srgbClr val="D7E6E9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609600" y="5613400"/>
            <a:ext cx="330200" cy="25400"/>
          </a:xfrm>
          <a:prstGeom prst="rect">
            <a:avLst/>
          </a:prstGeom>
          <a:solidFill>
            <a:srgbClr val="F3CE58"/>
          </a:solidFill>
          <a:ln w="12700">
            <a:solidFill>
              <a:srgbClr val="F3CE58">
                <a:alpha val="0"/>
              </a:srgbClr>
            </a:solidFill>
            <a:prstDash val="solid"/>
          </a:ln>
        </p:spPr>
      </p:sp>
      <p:sp>
        <p:nvSpPr>
          <p:cNvPr id="28" name="Text 18"/>
          <p:cNvSpPr/>
          <p:nvPr>
            <p:ph idx="126" type="body" hasCustomPrompt="1"/>
          </p:nvPr>
        </p:nvSpPr>
        <p:spPr>
          <a:xfrm>
            <a:off x="609600" y="5791200"/>
            <a:ext cx="10972800" cy="4699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Measure what a hub enables, not what it keeps in-house.</a:t>
            </a:r>
            <a:endParaRPr lang="ja-JP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7" type="title" hasCustomPrompt="1"/>
          </p:nvPr>
        </p:nvSpPr>
        <p:spPr>
          <a:xfrm>
            <a:off x="1016000" y="2667000"/>
            <a:ext cx="1016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38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Valuing the Hub Function</a:t>
            </a:r>
            <a:endParaRPr lang="ja-JP" sz="3800" dirty="0"/>
          </a:p>
        </p:txBody>
      </p:sp>
      <p:sp>
        <p:nvSpPr>
          <p:cNvPr id="3" name="Text 6"/>
          <p:cNvSpPr/>
          <p:nvPr>
            <p:ph idx="108" type="body" hasCustomPrompt="1"/>
          </p:nvPr>
        </p:nvSpPr>
        <p:spPr>
          <a:xfrm>
            <a:off x="1028700" y="3632200"/>
            <a:ext cx="1013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Crediting support for other institutions' research</a:t>
            </a:r>
            <a:endParaRPr lang="ja-JP" sz="2200" dirty="0"/>
          </a:p>
        </p:txBody>
      </p:sp>
      <p:sp>
        <p:nvSpPr>
          <p:cNvPr id="4" name="Text 8"/>
          <p:cNvSpPr/>
          <p:nvPr>
            <p:ph idx="111" type="body" hasCustomPrompt="1"/>
          </p:nvPr>
        </p:nvSpPr>
        <p:spPr>
          <a:xfrm>
            <a:off x="609600" y="54356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7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T. Saito</a:t>
            </a:r>
            <a:endParaRPr lang="ja-JP" sz="1700" dirty="0"/>
          </a:p>
        </p:txBody>
      </p:sp>
      <p:sp>
        <p:nvSpPr>
          <p:cNvPr id="5" name="Text 8"/>
          <p:cNvSpPr/>
          <p:nvPr>
            <p:ph idx="112" type="body" hasCustomPrompt="1"/>
          </p:nvPr>
        </p:nvSpPr>
        <p:spPr>
          <a:xfrm>
            <a:off x="609600" y="5791200"/>
            <a:ext cx="800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Director, CRPC, UTokyo Hospital</a:t>
            </a:r>
            <a:endParaRPr lang="ja-JP" sz="1200" dirty="0"/>
          </a:p>
        </p:txBody>
      </p:sp>
      <p:sp>
        <p:nvSpPr>
          <p:cNvPr id="6" name="Text 8"/>
          <p:cNvSpPr/>
          <p:nvPr>
            <p:ph idx="113" type="body" hasCustomPrompt="1"/>
          </p:nvPr>
        </p:nvSpPr>
        <p:spPr>
          <a:xfrm>
            <a:off x="8915400" y="548640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October 8, 2026 · VICTR</a:t>
            </a:r>
            <a:endParaRPr lang="ja-JP" sz="1200" dirty="0"/>
          </a:p>
        </p:txBody>
      </p:sp>
      <p:sp>
        <p:nvSpPr>
          <p:cNvPr id="7" name="Text 5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ja-JP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Where we stand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Not one hospital's site visit. We speak for a national system and ask how it should measure a research hub.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UTokyo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Director of the ARO at UTokyo Hospital, itself a Core Clinical Research Hospital.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NUH-CRPI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Representative Secretary of the council of all national university hospitals: 42 universities, 44 hospitals.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J3C, AMED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Vice Chair, Japan CDISC Coordinating Committee. AMED PI on data standards.</a:t>
            </a:r>
            <a:endParaRPr lang="ja-JP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 year on from our last visit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Last October you asked whether our EDC would connect to the EHR. Our answer starts one step earlier.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At entry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Each EHR item gets its CDISC variable and terms (incl. MedDRA, WHODrug) at entry, via FHIR.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Then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Any EDC can use the data, REDCap included. The link to an EDC comes after.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So far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About 1,180 CDISC code lists as FHIR code systems; a terminology server in pilot.</a:t>
            </a:r>
            <a:endParaRPr lang="ja-JP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Japan's Core Clinical Research Hospitals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 legal status, not a grant. The Minister approves it; 16 hospitals hold it today.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Since 2015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Created in 2015. Approval and renewal follow published criteria.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 status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Unlike a CTSA award, a status the hospital keeps until it fails the criteria.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No office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No national program office sets goals. The criteria are the whole instrument.</a:t>
            </a:r>
            <a:endParaRPr lang="ja-JP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What the criteria count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Three-year counts, in principle in-house, decide approval. Support to others is a floor, not a score.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 trials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Drug-approval trials, or 4 plus 40 others. In principle led by the hospital's own PI.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45 papers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Peer-reviewed English papers. In principle the first author is from the hospital.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 supports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 fixed floor. Beyond it, only full support counts: protocol, DM and monitoring.</a:t>
            </a:r>
            <a:endParaRPr lang="ja-JP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What happens as a result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Counting in-house output creates an incentive that works against the hub function.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Small trials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Hospitals launch small, easy-to-start trials and multiply papers to meet the thresholds.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Penalty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Every person or dollar moved to supporting others lowers the hospital's own metrics.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Floor stays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 2026 review keeps support as a floor; its effort was judged too hard to score.</a:t>
            </a:r>
            <a:endParaRPr lang="ja-JP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Three shifts we propose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Re-weight, do not abolish. Each shift has a working US counterpart in how NIH funds hubs and functions.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863600" y="31750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Outcomes</a:t>
            </a:r>
            <a:endParaRPr lang="ja-JP" sz="2600" dirty="0"/>
          </a:p>
        </p:txBody>
      </p:sp>
      <p:sp>
        <p:nvSpPr>
          <p:cNvPr id="6" name="Text 8"/>
          <p:cNvSpPr/>
          <p:nvPr>
            <p:ph idx="111" type="body" hasCustomPrompt="1"/>
          </p:nvPr>
        </p:nvSpPr>
        <p:spPr>
          <a:xfrm>
            <a:off x="863600" y="4064000"/>
            <a:ext cx="294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From trial counts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 approvals.</a:t>
            </a:r>
            <a:endParaRPr lang="ja-JP" sz="2000" dirty="0"/>
          </a:p>
        </p:txBody>
      </p:sp>
      <p:sp>
        <p:nvSpPr>
          <p:cNvPr id="7" name="Text 11"/>
          <p:cNvSpPr/>
          <p:nvPr>
            <p:ph idx="115" type="body" hasCustomPrompt="1"/>
          </p:nvPr>
        </p:nvSpPr>
        <p:spPr>
          <a:xfrm>
            <a:off x="4622800" y="31750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Support</a:t>
            </a:r>
            <a:endParaRPr lang="ja-JP" sz="2600" dirty="0"/>
          </a:p>
        </p:txBody>
      </p:sp>
      <p:sp>
        <p:nvSpPr>
          <p:cNvPr id="8" name="Text 12"/>
          <p:cNvSpPr/>
          <p:nvPr>
            <p:ph idx="117" type="body" hasCustomPrompt="1"/>
          </p:nvPr>
        </p:nvSpPr>
        <p:spPr>
          <a:xfrm>
            <a:off x="4622800" y="4064000"/>
            <a:ext cx="294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Credit research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done elsewhere.</a:t>
            </a:r>
            <a:endParaRPr lang="ja-JP" sz="2000" dirty="0"/>
          </a:p>
        </p:txBody>
      </p:sp>
      <p:sp>
        <p:nvSpPr>
          <p:cNvPr id="9" name="Text 15"/>
          <p:cNvSpPr/>
          <p:nvPr>
            <p:ph idx="121" type="body" hasCustomPrompt="1"/>
          </p:nvPr>
        </p:nvSpPr>
        <p:spPr>
          <a:xfrm>
            <a:off x="8382000" y="3175000"/>
            <a:ext cx="294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Network</a:t>
            </a:r>
            <a:endParaRPr lang="ja-JP" sz="2600" dirty="0"/>
          </a:p>
        </p:txBody>
      </p:sp>
      <p:sp>
        <p:nvSpPr>
          <p:cNvPr id="10" name="Text 16"/>
          <p:cNvSpPr/>
          <p:nvPr>
            <p:ph idx="123" type="body" hasCustomPrompt="1"/>
          </p:nvPr>
        </p:nvSpPr>
        <p:spPr>
          <a:xfrm>
            <a:off x="8382000" y="4064000"/>
            <a:ext cx="294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Core platform</a:t>
            </a:r>
            <a:endParaRPr lang="ja-JP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plus networks.</a:t>
            </a:r>
            <a:endParaRPr lang="ja-JP" sz="2000" dirty="0"/>
          </a:p>
        </p:txBody>
      </p:sp>
      <p:sp>
        <p:nvSpPr>
          <p:cNvPr id="11" name="Text 18"/>
          <p:cNvSpPr/>
          <p:nvPr>
            <p:ph idx="126" type="body" hasCustomPrompt="1"/>
          </p:nvPr>
        </p:nvSpPr>
        <p:spPr>
          <a:xfrm>
            <a:off x="609600" y="5791200"/>
            <a:ext cx="10972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Measure what a hub enables, not what it keeps in-house.</a:t>
            </a:r>
            <a:endParaRPr lang="ja-JP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Measured by our own yardstick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Apply the proposed axis to ourselves. None of this counts today; all of it enabled others' research.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Ptosh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EDC platform for academic trials; CDISC encoded at data entry.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NHO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CDISC adopted across the National Hospital Organization's multicenter trials.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aCRF.jp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Open annotated CRF library, and the JASPEHR group on EHR-to-research data.</a:t>
            </a:r>
            <a:endParaRPr lang="ja-JP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What we came to ask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Eight written questions; your agenda gives each a session today.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This morning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Community engagement (Q8); the Coordinating Center, TIN (Q3).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With Paul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NCATS metrics, unfunded functions, post-cut mix, open infrastructure (Q1, 2, 4, 6).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Then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Workforce with Terri (Q5); EHR and BioVU research support (Q7).</a:t>
            </a:r>
            <a:endParaRPr lang="ja-JP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09600" y="3175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6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What we most want to learn</a:t>
            </a:r>
            <a:endParaRPr lang="ja-JP" sz="2600" dirty="0"/>
          </a:p>
        </p:txBody>
      </p:sp>
      <p:sp>
        <p:nvSpPr>
          <p:cNvPr id="3" name="Text 1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ja-JP" sz="1000" dirty="0"/>
          </a:p>
        </p:txBody>
      </p:sp>
      <p:sp>
        <p:nvSpPr>
          <p:cNvPr id="4" name="Text 5"/>
          <p:cNvSpPr/>
          <p:nvPr>
            <p:ph idx="106" type="body" hasCustomPrompt="1"/>
          </p:nvPr>
        </p:nvSpPr>
        <p:spPr>
          <a:xfrm>
            <a:off x="609600" y="13716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One question is about the review; two are specific to you.</a:t>
            </a:r>
            <a:endParaRPr lang="ja-JP" sz="20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270000" y="2438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Review</a:t>
            </a:r>
            <a:endParaRPr lang="ja-JP" sz="2000" dirty="0"/>
          </a:p>
        </p:txBody>
      </p:sp>
      <p:sp>
        <p:nvSpPr>
          <p:cNvPr id="6" name="Text 7"/>
          <p:cNvSpPr/>
          <p:nvPr>
            <p:ph idx="110" type="body" hasCustomPrompt="1"/>
          </p:nvPr>
        </p:nvSpPr>
        <p:spPr>
          <a:xfrm>
            <a:off x="3683000" y="24384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What decided your last renewal; which report numbers has NCATS acted on?</a:t>
            </a:r>
            <a:endParaRPr lang="ja-JP" sz="2000" dirty="0"/>
          </a:p>
        </p:txBody>
      </p:sp>
      <p:sp>
        <p:nvSpPr>
          <p:cNvPr id="7" name="Text 9"/>
          <p:cNvSpPr/>
          <p:nvPr>
            <p:ph idx="113" type="body" hasCustomPrompt="1"/>
          </p:nvPr>
        </p:nvSpPr>
        <p:spPr>
          <a:xfrm>
            <a:off x="1270000" y="38100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If counted</a:t>
            </a:r>
            <a:endParaRPr lang="ja-JP" sz="2000" dirty="0"/>
          </a:p>
        </p:txBody>
      </p:sp>
      <p:sp>
        <p:nvSpPr>
          <p:cNvPr id="8" name="Text 9"/>
          <p:cNvSpPr/>
          <p:nvPr>
            <p:ph idx="114" type="body" hasCustomPrompt="1"/>
          </p:nvPr>
        </p:nvSpPr>
        <p:spPr>
          <a:xfrm>
            <a:off x="3683000" y="38100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If in-house counts decided status, could REDCap and TIN stay open? (Q6)</a:t>
            </a:r>
            <a:endParaRPr lang="ja-JP" sz="2000" dirty="0"/>
          </a:p>
        </p:txBody>
      </p:sp>
      <p:sp>
        <p:nvSpPr>
          <p:cNvPr id="9" name="Text 11"/>
          <p:cNvSpPr/>
          <p:nvPr>
            <p:ph idx="117" type="body" hasCustomPrompt="1"/>
          </p:nvPr>
        </p:nvSpPr>
        <p:spPr>
          <a:xfrm>
            <a:off x="1270000" y="51816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All of Us</a:t>
            </a:r>
            <a:endParaRPr lang="ja-JP" sz="2000" dirty="0"/>
          </a:p>
        </p:txBody>
      </p:sp>
      <p:sp>
        <p:nvSpPr>
          <p:cNvPr id="10" name="Text 11"/>
          <p:cNvSpPr/>
          <p:nvPr>
            <p:ph idx="118" type="body" hasCustomPrompt="1"/>
          </p:nvPr>
        </p:nvSpPr>
        <p:spPr>
          <a:xfrm>
            <a:off x="3683000" y="5181600"/>
            <a:ext cx="7645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Your largest award, a data center outside peer review: how is it judged?</a:t>
            </a:r>
            <a:endParaRPr lang="ja-JP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7" type="title" hasCustomPrompt="1"/>
          </p:nvPr>
        </p:nvSpPr>
        <p:spPr>
          <a:xfrm>
            <a:off x="1016000" y="2667000"/>
            <a:ext cx="1016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38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Thank you</a:t>
            </a:r>
            <a:endParaRPr lang="ja-JP" sz="3800" dirty="0"/>
          </a:p>
        </p:txBody>
      </p:sp>
      <p:sp>
        <p:nvSpPr>
          <p:cNvPr id="3" name="Text 6"/>
          <p:cNvSpPr/>
          <p:nvPr>
            <p:ph idx="108" type="body" hasCustomPrompt="1"/>
          </p:nvPr>
        </p:nvSpPr>
        <p:spPr>
          <a:xfrm>
            <a:off x="1028700" y="3632200"/>
            <a:ext cx="1013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200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toshikisaito@g.ecc.u-tokyo.ac.jp</a:t>
            </a:r>
            <a:endParaRPr lang="ja-JP" sz="2200" dirty="0"/>
          </a:p>
        </p:txBody>
      </p:sp>
      <p:sp>
        <p:nvSpPr>
          <p:cNvPr id="4" name="Text 8"/>
          <p:cNvSpPr/>
          <p:nvPr>
            <p:ph idx="111" type="body" hasCustomPrompt="1"/>
          </p:nvPr>
        </p:nvSpPr>
        <p:spPr>
          <a:xfrm>
            <a:off x="609600" y="54356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700" b="1" dirty="0">
                <a:solidFill>
                  <a:srgbClr val="293E4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T. Saito</a:t>
            </a:r>
            <a:endParaRPr lang="ja-JP" sz="1700" dirty="0"/>
          </a:p>
        </p:txBody>
      </p:sp>
      <p:sp>
        <p:nvSpPr>
          <p:cNvPr id="5" name="Text 8"/>
          <p:cNvSpPr/>
          <p:nvPr>
            <p:ph idx="112" type="body" hasCustomPrompt="1"/>
          </p:nvPr>
        </p:nvSpPr>
        <p:spPr>
          <a:xfrm>
            <a:off x="609600" y="5791200"/>
            <a:ext cx="800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CRPC, UTokyo Hospital</a:t>
            </a:r>
            <a:endParaRPr lang="ja-JP" sz="1200" dirty="0"/>
          </a:p>
        </p:txBody>
      </p:sp>
      <p:sp>
        <p:nvSpPr>
          <p:cNvPr id="6" name="Text 8"/>
          <p:cNvSpPr/>
          <p:nvPr>
            <p:ph idx="113" type="body" hasCustomPrompt="1"/>
          </p:nvPr>
        </p:nvSpPr>
        <p:spPr>
          <a:xfrm>
            <a:off x="8915400" y="548640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200" dirty="0">
                <a:solidFill>
                  <a:srgbClr val="64777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Durham · Aurora · Nashville</a:t>
            </a:r>
            <a:endParaRPr lang="ja-JP" sz="1200" dirty="0"/>
          </a:p>
        </p:txBody>
      </p:sp>
      <p:sp>
        <p:nvSpPr>
          <p:cNvPr id="7" name="Text 5"/>
          <p:cNvSpPr/>
          <p:nvPr/>
        </p:nvSpPr>
        <p:spPr>
          <a:xfrm>
            <a:off x="11125200" y="64516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ja-JP" altLang="en-US" sz="1000" dirty="0">
                <a:solidFill>
                  <a:srgbClr val="647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ja-JP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Valuing the Hub Function (20-minute version, VANDERBILT)</dc:title>
  <dc:subject>UTokyo CRPC Slide System 1.1.0</dc:subject>
  <dc:creator/>
  <cp:lastModifiedBy/>
  <cp:revision>1</cp:revision>
  <dcterms:created xsi:type="dcterms:W3CDTF">2026-10-07T08:32:32Z</dcterms:created>
  <dcterms:modified xsi:type="dcterms:W3CDTF">2026-10-07T08:32:32Z</dcterms:modified>
</cp:coreProperties>
</file>