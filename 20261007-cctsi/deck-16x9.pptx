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95300"/>
            <a:ext cx="444500" cy="444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57300" y="495300"/>
            <a:ext cx="0" cy="457200"/>
          </a:xfrm>
          <a:prstGeom prst="line">
            <a:avLst/>
          </a:prstGeom>
          <a:noFill/>
          <a:ln w="8890">
            <a:solidFill>
              <a:srgbClr val="BAD5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35100" y="4699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30" kern="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University of Tokyo Hospital</a:t>
            </a:r>
            <a:endParaRPr lang="ja-JP" sz="1200" dirty="0"/>
          </a:p>
        </p:txBody>
      </p:sp>
      <p:sp>
        <p:nvSpPr>
          <p:cNvPr id="6" name="Text 3"/>
          <p:cNvSpPr/>
          <p:nvPr/>
        </p:nvSpPr>
        <p:spPr>
          <a:xfrm>
            <a:off x="1435100" y="7112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600" spc="30" kern="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Clinical Research Promotion Center</a:t>
            </a:r>
            <a:endParaRPr lang="ja-JP" sz="1600" dirty="0"/>
          </a:p>
        </p:txBody>
      </p:sp>
      <p:sp>
        <p:nvSpPr>
          <p:cNvPr id="7" name="Shape 4"/>
          <p:cNvSpPr/>
          <p:nvPr/>
        </p:nvSpPr>
        <p:spPr>
          <a:xfrm>
            <a:off x="609600" y="1727200"/>
            <a:ext cx="10972800" cy="3302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9600" y="1727200"/>
            <a:ext cx="38100" cy="33020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>
            <p:ph idx="107" type="title" hasCustomPrompt="1"/>
          </p:nvPr>
        </p:nvSpPr>
        <p:spPr>
          <a:xfrm>
            <a:off x="1016000" y="2667000"/>
            <a:ext cx="101600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Valuing the Hub Function</a:t>
            </a:r>
            <a:endParaRPr lang="ja-JP" sz="38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1028700" y="3632200"/>
            <a:ext cx="10134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Crediting support for other institutions' research</a:t>
            </a:r>
            <a:endParaRPr lang="ja-JP" sz="2200" dirty="0"/>
          </a:p>
        </p:txBody>
      </p:sp>
      <p:sp>
        <p:nvSpPr>
          <p:cNvPr id="11" name="Shape 6"/>
          <p:cNvSpPr/>
          <p:nvPr/>
        </p:nvSpPr>
        <p:spPr>
          <a:xfrm>
            <a:off x="10718800" y="4978400"/>
            <a:ext cx="863600" cy="50800"/>
          </a:xfrm>
          <a:prstGeom prst="rect">
            <a:avLst/>
          </a:prstGeom>
          <a:solidFill>
            <a:srgbClr val="D3ECF0"/>
          </a:solidFill>
          <a:ln w="12700">
            <a:solidFill>
              <a:srgbClr val="D3ECF0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252200" y="4978400"/>
            <a:ext cx="330200" cy="50800"/>
          </a:xfrm>
          <a:prstGeom prst="rect">
            <a:avLst/>
          </a:prstGeom>
          <a:solidFill>
            <a:srgbClr val="F3CE58"/>
          </a:solidFill>
          <a:ln w="12700">
            <a:solidFill>
              <a:srgbClr val="F3CE58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609600" y="5435600"/>
            <a:ext cx="3810000" cy="33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T. Saito</a:t>
            </a:r>
            <a:endParaRPr lang="ja-JP" sz="17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609600" y="5791200"/>
            <a:ext cx="8001000" cy="279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Director, CRPC, UTokyo Hospital</a:t>
            </a:r>
            <a:endParaRPr lang="ja-JP" sz="1200" dirty="0"/>
          </a:p>
        </p:txBody>
      </p:sp>
      <p:sp>
        <p:nvSpPr>
          <p:cNvPr id="15" name="Text 8"/>
          <p:cNvSpPr/>
          <p:nvPr>
            <p:ph idx="113" type="body" hasCustomPrompt="1"/>
          </p:nvPr>
        </p:nvSpPr>
        <p:spPr>
          <a:xfrm>
            <a:off x="8915400" y="5486400"/>
            <a:ext cx="2667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35000"/>
              </a:lnSpc>
              <a:buNone/>
              <a:def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r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October 7, 2026 · CCTSI</a:t>
            </a:r>
            <a:endParaRPr lang="ja-JP" sz="1200" dirty="0"/>
          </a:p>
        </p:txBody>
      </p:sp>
      <p:sp>
        <p:nvSpPr>
          <p:cNvPr id="16" name="Text 8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ROW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41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Where we stand</a:t>
            </a:r>
            <a:endParaRPr lang="ja-JP" sz="2600" dirty="0"/>
          </a:p>
        </p:txBody>
      </p:sp>
      <p:sp>
        <p:nvSpPr>
          <p:cNvPr id="5" name="Shape 2"/>
          <p:cNvSpPr/>
          <p:nvPr/>
        </p:nvSpPr>
        <p:spPr>
          <a:xfrm>
            <a:off x="609600" y="10795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1066800"/>
            <a:ext cx="419100" cy="254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Not one hospital's site visit. We speak for a national system and ask how it should measure a research hub.</a:t>
            </a:r>
            <a:endParaRPr lang="ja-JP" sz="2000" dirty="0"/>
          </a:p>
        </p:txBody>
      </p:sp>
      <p:sp>
        <p:nvSpPr>
          <p:cNvPr id="9" name="Shape 5"/>
          <p:cNvSpPr/>
          <p:nvPr/>
        </p:nvSpPr>
        <p:spPr>
          <a:xfrm>
            <a:off x="609600" y="22098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3600" y="24892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2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UTokyo</a:t>
            </a:r>
            <a:endParaRPr lang="ja-JP" sz="2000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 of the ARO at UTokyo Hospital, itself a Core Clinical Research Hospital.</a:t>
            </a:r>
            <a:endParaRPr lang="ja-JP" sz="2000" dirty="0"/>
          </a:p>
        </p:txBody>
      </p:sp>
      <p:sp>
        <p:nvSpPr>
          <p:cNvPr id="13" name="Shape 7"/>
          <p:cNvSpPr/>
          <p:nvPr/>
        </p:nvSpPr>
        <p:spPr>
          <a:xfrm>
            <a:off x="609600" y="35814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63600" y="38608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2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NUH-CRPI</a:t>
            </a:r>
            <a:endParaRPr lang="ja-JP" sz="20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Representative Secretary of the council of all national university hospitals: 42 universities, 44 hospitals.</a:t>
            </a:r>
            <a:endParaRPr lang="ja-JP" sz="2000" dirty="0"/>
          </a:p>
        </p:txBody>
      </p:sp>
      <p:sp>
        <p:nvSpPr>
          <p:cNvPr id="17" name="Shape 9"/>
          <p:cNvSpPr/>
          <p:nvPr/>
        </p:nvSpPr>
        <p:spPr>
          <a:xfrm>
            <a:off x="609600" y="49530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863600" y="52324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200" dirty="0"/>
          </a:p>
        </p:txBody>
      </p:sp>
      <p:sp>
        <p:nvSpPr>
          <p:cNvPr id="1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J3C, AMED</a:t>
            </a:r>
            <a:endParaRPr lang="ja-JP" sz="2000" dirty="0"/>
          </a:p>
        </p:txBody>
      </p:sp>
      <p:sp>
        <p:nvSpPr>
          <p:cNvPr id="2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Vice Chair, Japan CDISC Coordinating Committee. AMED PI on data standards.</a:t>
            </a:r>
            <a:endParaRPr lang="ja-JP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FLO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41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Three shifts we propose</a:t>
            </a:r>
            <a:endParaRPr lang="ja-JP" sz="2600" dirty="0"/>
          </a:p>
        </p:txBody>
      </p:sp>
      <p:sp>
        <p:nvSpPr>
          <p:cNvPr id="5" name="Shape 2"/>
          <p:cNvSpPr/>
          <p:nvPr/>
        </p:nvSpPr>
        <p:spPr>
          <a:xfrm>
            <a:off x="609600" y="10795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1066800"/>
            <a:ext cx="419100" cy="254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Re-weight, do not abolish. Each shift has a working US counterpart in how NIH funds hubs and functions.</a:t>
            </a:r>
            <a:endParaRPr lang="ja-JP" sz="2000" dirty="0"/>
          </a:p>
        </p:txBody>
      </p:sp>
      <p:sp>
        <p:nvSpPr>
          <p:cNvPr id="9" name="Shape 5"/>
          <p:cNvSpPr/>
          <p:nvPr/>
        </p:nvSpPr>
        <p:spPr>
          <a:xfrm>
            <a:off x="6096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36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1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8636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Outcomes</a:t>
            </a:r>
            <a:endParaRPr lang="ja-JP" sz="2600" dirty="0"/>
          </a:p>
        </p:txBody>
      </p:sp>
      <p:sp>
        <p:nvSpPr>
          <p:cNvPr id="12" name="Shape 7"/>
          <p:cNvSpPr/>
          <p:nvPr/>
        </p:nvSpPr>
        <p:spPr>
          <a:xfrm>
            <a:off x="8636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8636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From trials started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 results.</a:t>
            </a:r>
            <a:endParaRPr lang="ja-JP" sz="2000" dirty="0"/>
          </a:p>
        </p:txBody>
      </p:sp>
      <p:sp>
        <p:nvSpPr>
          <p:cNvPr id="14" name="Text 8"/>
          <p:cNvSpPr/>
          <p:nvPr/>
        </p:nvSpPr>
        <p:spPr>
          <a:xfrm>
            <a:off x="4076700" y="3556000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ja-JP" sz="2200" dirty="0"/>
          </a:p>
        </p:txBody>
      </p:sp>
      <p:sp>
        <p:nvSpPr>
          <p:cNvPr id="15" name="Shape 9"/>
          <p:cNvSpPr/>
          <p:nvPr/>
        </p:nvSpPr>
        <p:spPr>
          <a:xfrm>
            <a:off x="43688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6228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1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46228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Support</a:t>
            </a:r>
            <a:endParaRPr lang="ja-JP" sz="2600" dirty="0"/>
          </a:p>
        </p:txBody>
      </p:sp>
      <p:sp>
        <p:nvSpPr>
          <p:cNvPr id="18" name="Shape 11"/>
          <p:cNvSpPr/>
          <p:nvPr/>
        </p:nvSpPr>
        <p:spPr>
          <a:xfrm>
            <a:off x="46228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19" name="Text 12"/>
          <p:cNvSpPr/>
          <p:nvPr>
            <p:ph idx="117" type="body" hasCustomPrompt="1"/>
          </p:nvPr>
        </p:nvSpPr>
        <p:spPr>
          <a:xfrm>
            <a:off x="46228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Credit research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done elsewhere.</a:t>
            </a:r>
            <a:endParaRPr lang="ja-JP" sz="2000" dirty="0"/>
          </a:p>
        </p:txBody>
      </p:sp>
      <p:sp>
        <p:nvSpPr>
          <p:cNvPr id="20" name="Text 12"/>
          <p:cNvSpPr/>
          <p:nvPr/>
        </p:nvSpPr>
        <p:spPr>
          <a:xfrm>
            <a:off x="7835900" y="3556000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ja-JP" sz="2200" dirty="0"/>
          </a:p>
        </p:txBody>
      </p:sp>
      <p:sp>
        <p:nvSpPr>
          <p:cNvPr id="21" name="Shape 13"/>
          <p:cNvSpPr/>
          <p:nvPr/>
        </p:nvSpPr>
        <p:spPr>
          <a:xfrm>
            <a:off x="81280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83820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100" dirty="0"/>
          </a:p>
        </p:txBody>
      </p:sp>
      <p:sp>
        <p:nvSpPr>
          <p:cNvPr id="23" name="Text 15"/>
          <p:cNvSpPr/>
          <p:nvPr>
            <p:ph idx="121" type="body" hasCustomPrompt="1"/>
          </p:nvPr>
        </p:nvSpPr>
        <p:spPr>
          <a:xfrm>
            <a:off x="83820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Network</a:t>
            </a:r>
            <a:endParaRPr lang="ja-JP" sz="2600" dirty="0"/>
          </a:p>
        </p:txBody>
      </p:sp>
      <p:sp>
        <p:nvSpPr>
          <p:cNvPr id="24" name="Shape 15"/>
          <p:cNvSpPr/>
          <p:nvPr/>
        </p:nvSpPr>
        <p:spPr>
          <a:xfrm>
            <a:off x="83820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25" name="Text 16"/>
          <p:cNvSpPr/>
          <p:nvPr>
            <p:ph idx="123" type="body" hasCustomPrompt="1"/>
          </p:nvPr>
        </p:nvSpPr>
        <p:spPr>
          <a:xfrm>
            <a:off x="83820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Core platform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plus networks.</a:t>
            </a:r>
            <a:endParaRPr lang="ja-JP" sz="2000" dirty="0"/>
          </a:p>
        </p:txBody>
      </p:sp>
      <p:sp>
        <p:nvSpPr>
          <p:cNvPr id="26" name="Shape 16"/>
          <p:cNvSpPr/>
          <p:nvPr/>
        </p:nvSpPr>
        <p:spPr>
          <a:xfrm>
            <a:off x="609600" y="56261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609600" y="5613400"/>
            <a:ext cx="330200" cy="25400"/>
          </a:xfrm>
          <a:prstGeom prst="rect">
            <a:avLst/>
          </a:prstGeom>
          <a:solidFill>
            <a:srgbClr val="F3CE58"/>
          </a:solidFill>
          <a:ln w="12700">
            <a:solidFill>
              <a:srgbClr val="F3CE58">
                <a:alpha val="0"/>
              </a:srgbClr>
            </a:solidFill>
            <a:prstDash val="solid"/>
          </a:ln>
        </p:spPr>
      </p:sp>
      <p:sp>
        <p:nvSpPr>
          <p:cNvPr id="28" name="Text 18"/>
          <p:cNvSpPr/>
          <p:nvPr>
            <p:ph idx="126" type="body" hasCustomPrompt="1"/>
          </p:nvPr>
        </p:nvSpPr>
        <p:spPr>
          <a:xfrm>
            <a:off x="609600" y="5791200"/>
            <a:ext cx="10972800" cy="469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Measure what a hub enables, not what it keeps in-house.</a:t>
            </a:r>
            <a:endParaRPr lang="ja-JP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7" type="title" hasCustomPrompt="1"/>
          </p:nvPr>
        </p:nvSpPr>
        <p:spPr>
          <a:xfrm>
            <a:off x="1016000" y="2667000"/>
            <a:ext cx="1016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Valuing the Hub Function</a:t>
            </a:r>
            <a:endParaRPr lang="ja-JP" sz="3800" dirty="0"/>
          </a:p>
        </p:txBody>
      </p:sp>
      <p:sp>
        <p:nvSpPr>
          <p:cNvPr id="3" name="Text 6"/>
          <p:cNvSpPr/>
          <p:nvPr>
            <p:ph idx="108" type="body" hasCustomPrompt="1"/>
          </p:nvPr>
        </p:nvSpPr>
        <p:spPr>
          <a:xfrm>
            <a:off x="1028700" y="3632200"/>
            <a:ext cx="1013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Crediting support for other institutions' research</a:t>
            </a:r>
            <a:endParaRPr lang="ja-JP" sz="2200" dirty="0"/>
          </a:p>
        </p:txBody>
      </p:sp>
      <p:sp>
        <p:nvSpPr>
          <p:cNvPr id="4" name="Text 8"/>
          <p:cNvSpPr/>
          <p:nvPr>
            <p:ph idx="111" type="body" hasCustomPrompt="1"/>
          </p:nvPr>
        </p:nvSpPr>
        <p:spPr>
          <a:xfrm>
            <a:off x="609600" y="54356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T. Saito</a:t>
            </a:r>
            <a:endParaRPr lang="ja-JP" sz="1700" dirty="0"/>
          </a:p>
        </p:txBody>
      </p:sp>
      <p:sp>
        <p:nvSpPr>
          <p:cNvPr id="5" name="Text 8"/>
          <p:cNvSpPr/>
          <p:nvPr>
            <p:ph idx="112" type="body" hasCustomPrompt="1"/>
          </p:nvPr>
        </p:nvSpPr>
        <p:spPr>
          <a:xfrm>
            <a:off x="609600" y="5791200"/>
            <a:ext cx="800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Director, CRPC, UTokyo Hospital</a:t>
            </a:r>
            <a:endParaRPr lang="ja-JP" sz="1200" dirty="0"/>
          </a:p>
        </p:txBody>
      </p:sp>
      <p:sp>
        <p:nvSpPr>
          <p:cNvPr id="6" name="Text 8"/>
          <p:cNvSpPr/>
          <p:nvPr>
            <p:ph idx="113" type="body" hasCustomPrompt="1"/>
          </p:nvPr>
        </p:nvSpPr>
        <p:spPr>
          <a:xfrm>
            <a:off x="8915400" y="54864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October 7, 2026 · CCTSI</a:t>
            </a:r>
            <a:endParaRPr lang="ja-JP" sz="1200" dirty="0"/>
          </a:p>
        </p:txBody>
      </p:sp>
      <p:sp>
        <p:nvSpPr>
          <p:cNvPr id="7" name="Text 5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Where we stand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Not one hospital's site visit. We speak for a national system and ask how it should measure a research hub.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UTokyo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 of the ARO at UTokyo Hospital, itself a Core Clinical Research Hospital.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NUH-CRPI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Representative Secretary of the council of all national university hospitals: 42 universities, 44 hospitals.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J3C, AMED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Vice Chair, Japan CDISC Coordinating Committee. AMED PI on data standards.</a:t>
            </a:r>
            <a:endParaRPr lang="ja-JP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Japan's networks, and why a CTSA hub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Japan has national hospital networks but no hub program. We came to see how one hub serves a whole state.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42 + 44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42 university hospitals form a council. It shares practice; it is not a hub.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NHO 140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NHO runs 140 hospitals with its own ARO and data center.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CCTSI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One hub serving universities, hospitals and communities statewide.</a:t>
            </a:r>
            <a:endParaRPr lang="ja-JP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Japan's Core Clinical Research Hospitals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legal status, not a grant. The Minister approves it; 16 hospitals hold it today.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Since 2015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Created in 2015. Approval and renewal follow published criteria.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status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Unlike a CTSA award, a status the hospital keeps until it fails the criteria.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No office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No national program office sets goals. The criteria are the whole instrument.</a:t>
            </a:r>
            <a:endParaRPr lang="ja-JP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the criteria count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Three-year counts, in principle in-house, decide approval. Support to others is a floor, not a score.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 trials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Drug-approval trials, or 4 plus 40 others. In principle led by the hospital's own PI.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45 papers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Peer-reviewed English papers. In principle the first author is from the hospital.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 supports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fixed floor. Beyond it, only full support counts: protocol, DM and monitoring.</a:t>
            </a:r>
            <a:endParaRPr lang="ja-JP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happens as a result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Counting in-house output creates an incentive that works against the hub function.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Small trials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Hospitals launch small, easy-to-start trials and multiply papers to meet the thresholds.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Penalty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Every person or dollar moved to supporting others lowers the hospital's own metrics.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Floor stays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2026 review keeps support as a floor; its effort was judged too hard to score.</a:t>
            </a:r>
            <a:endParaRPr lang="ja-JP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Three shifts we propose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Re-weight, do not abolish. Each shift has a working US counterpart in how NIH funds hubs and functions.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8636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Outcomes</a:t>
            </a:r>
            <a:endParaRPr lang="ja-JP" sz="2600" dirty="0"/>
          </a:p>
        </p:txBody>
      </p:sp>
      <p:sp>
        <p:nvSpPr>
          <p:cNvPr id="6" name="Text 8"/>
          <p:cNvSpPr/>
          <p:nvPr>
            <p:ph idx="111" type="body" hasCustomPrompt="1"/>
          </p:nvPr>
        </p:nvSpPr>
        <p:spPr>
          <a:xfrm>
            <a:off x="8636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From trials started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 results.</a:t>
            </a:r>
            <a:endParaRPr lang="ja-JP" sz="2000" dirty="0"/>
          </a:p>
        </p:txBody>
      </p:sp>
      <p:sp>
        <p:nvSpPr>
          <p:cNvPr id="7" name="Text 11"/>
          <p:cNvSpPr/>
          <p:nvPr>
            <p:ph idx="115" type="body" hasCustomPrompt="1"/>
          </p:nvPr>
        </p:nvSpPr>
        <p:spPr>
          <a:xfrm>
            <a:off x="46228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Support</a:t>
            </a:r>
            <a:endParaRPr lang="ja-JP" sz="2600" dirty="0"/>
          </a:p>
        </p:txBody>
      </p:sp>
      <p:sp>
        <p:nvSpPr>
          <p:cNvPr id="8" name="Text 12"/>
          <p:cNvSpPr/>
          <p:nvPr>
            <p:ph idx="117" type="body" hasCustomPrompt="1"/>
          </p:nvPr>
        </p:nvSpPr>
        <p:spPr>
          <a:xfrm>
            <a:off x="46228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Credit research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done elsewhere.</a:t>
            </a:r>
            <a:endParaRPr lang="ja-JP" sz="2000" dirty="0"/>
          </a:p>
        </p:txBody>
      </p:sp>
      <p:sp>
        <p:nvSpPr>
          <p:cNvPr id="9" name="Text 15"/>
          <p:cNvSpPr/>
          <p:nvPr>
            <p:ph idx="121" type="body" hasCustomPrompt="1"/>
          </p:nvPr>
        </p:nvSpPr>
        <p:spPr>
          <a:xfrm>
            <a:off x="83820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Network</a:t>
            </a:r>
            <a:endParaRPr lang="ja-JP" sz="2600" dirty="0"/>
          </a:p>
        </p:txBody>
      </p:sp>
      <p:sp>
        <p:nvSpPr>
          <p:cNvPr id="10" name="Text 16"/>
          <p:cNvSpPr/>
          <p:nvPr>
            <p:ph idx="123" type="body" hasCustomPrompt="1"/>
          </p:nvPr>
        </p:nvSpPr>
        <p:spPr>
          <a:xfrm>
            <a:off x="83820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Core platform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plus networks.</a:t>
            </a:r>
            <a:endParaRPr lang="ja-JP" sz="2000" dirty="0"/>
          </a:p>
        </p:txBody>
      </p:sp>
      <p:sp>
        <p:nvSpPr>
          <p:cNvPr id="11" name="Text 18"/>
          <p:cNvSpPr/>
          <p:nvPr>
            <p:ph idx="126" type="body" hasCustomPrompt="1"/>
          </p:nvPr>
        </p:nvSpPr>
        <p:spPr>
          <a:xfrm>
            <a:off x="609600" y="5791200"/>
            <a:ext cx="1097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Measure what a hub enables, not what it keeps in-house.</a:t>
            </a:r>
            <a:endParaRPr lang="ja-JP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we came to ask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Thirteen written questions in seven themes; you have grouped the answers for 10:10. DCRI sharpened three.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Value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Which numbers NCATS reacts to; how partners' research is credited (A–C).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People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Support workforce and retention; at DCRI, culture and turnover under 6% (D).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System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How the hub relates to the AROs around it, and to data standards (E–G).</a:t>
            </a:r>
            <a:endParaRPr lang="ja-JP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we most want to learn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One question is about the review; two are specific to you.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Review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decided your last renewal; which report numbers has NCATS acted on?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If counted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If in-house counts decided hub status, how would CCTSI and its partners change? (Q3)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Hub, ARO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At Duke the CTSA hub and DCRI barely meet. How do CCTSI and CPC relate?</a:t>
            </a:r>
            <a:endParaRPr lang="ja-JP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7" type="title" hasCustomPrompt="1"/>
          </p:nvPr>
        </p:nvSpPr>
        <p:spPr>
          <a:xfrm>
            <a:off x="1016000" y="2667000"/>
            <a:ext cx="1016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Thank you</a:t>
            </a:r>
            <a:endParaRPr lang="ja-JP" sz="3800" dirty="0"/>
          </a:p>
        </p:txBody>
      </p:sp>
      <p:sp>
        <p:nvSpPr>
          <p:cNvPr id="3" name="Text 6"/>
          <p:cNvSpPr/>
          <p:nvPr>
            <p:ph idx="108" type="body" hasCustomPrompt="1"/>
          </p:nvPr>
        </p:nvSpPr>
        <p:spPr>
          <a:xfrm>
            <a:off x="1028700" y="3632200"/>
            <a:ext cx="1013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toshikisaito@g.ecc.u-tokyo.ac.jp</a:t>
            </a:r>
            <a:endParaRPr lang="ja-JP" sz="2200" dirty="0"/>
          </a:p>
        </p:txBody>
      </p:sp>
      <p:sp>
        <p:nvSpPr>
          <p:cNvPr id="4" name="Text 8"/>
          <p:cNvSpPr/>
          <p:nvPr>
            <p:ph idx="111" type="body" hasCustomPrompt="1"/>
          </p:nvPr>
        </p:nvSpPr>
        <p:spPr>
          <a:xfrm>
            <a:off x="609600" y="54356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T. Saito</a:t>
            </a:r>
            <a:endParaRPr lang="ja-JP" sz="1700" dirty="0"/>
          </a:p>
        </p:txBody>
      </p:sp>
      <p:sp>
        <p:nvSpPr>
          <p:cNvPr id="5" name="Text 8"/>
          <p:cNvSpPr/>
          <p:nvPr>
            <p:ph idx="112" type="body" hasCustomPrompt="1"/>
          </p:nvPr>
        </p:nvSpPr>
        <p:spPr>
          <a:xfrm>
            <a:off x="609600" y="5791200"/>
            <a:ext cx="800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CRPC, UTokyo Hospital</a:t>
            </a:r>
            <a:endParaRPr lang="ja-JP" sz="1200" dirty="0"/>
          </a:p>
        </p:txBody>
      </p:sp>
      <p:sp>
        <p:nvSpPr>
          <p:cNvPr id="6" name="Text 8"/>
          <p:cNvSpPr/>
          <p:nvPr>
            <p:ph idx="113" type="body" hasCustomPrompt="1"/>
          </p:nvPr>
        </p:nvSpPr>
        <p:spPr>
          <a:xfrm>
            <a:off x="8915400" y="54864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Durham · Aurora · Nashville</a:t>
            </a:r>
            <a:endParaRPr lang="ja-JP" sz="1200" dirty="0"/>
          </a:p>
        </p:txBody>
      </p:sp>
      <p:sp>
        <p:nvSpPr>
          <p:cNvPr id="7" name="Text 5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ja-JP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Valuing the Hub Function (20-minute version, CCTSI)</dc:title>
  <dc:subject>UTokyo CRPC Slide System 1.1.0</dc:subject>
  <dc:creator/>
  <cp:lastModifiedBy/>
  <cp:revision>1</cp:revision>
  <dcterms:created xsi:type="dcterms:W3CDTF">2026-10-07T09:47:20Z</dcterms:created>
  <dcterms:modified xsi:type="dcterms:W3CDTF">2026-10-07T09:47:20Z</dcterms:modified>
</cp:coreProperties>
</file>