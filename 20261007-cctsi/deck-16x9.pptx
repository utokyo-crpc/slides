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495300"/>
            <a:ext cx="444500" cy="444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257300" y="495300"/>
            <a:ext cx="0" cy="457200"/>
          </a:xfrm>
          <a:prstGeom prst="line">
            <a:avLst/>
          </a:prstGeom>
          <a:noFill/>
          <a:ln w="8890">
            <a:solidFill>
              <a:srgbClr val="BAD5D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435100" y="469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University of Tokyo Hospital</a:t>
            </a:r>
            <a:endParaRPr lang="ja-JP" sz="1200" dirty="0"/>
          </a:p>
        </p:txBody>
      </p:sp>
      <p:sp>
        <p:nvSpPr>
          <p:cNvPr id="6" name="Text 3"/>
          <p:cNvSpPr/>
          <p:nvPr/>
        </p:nvSpPr>
        <p:spPr>
          <a:xfrm>
            <a:off x="1435100" y="711200"/>
            <a:ext cx="584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6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Clinical Research Promotion Center</a:t>
            </a:r>
            <a:endParaRPr lang="ja-JP" sz="1600" dirty="0"/>
          </a:p>
        </p:txBody>
      </p:sp>
      <p:sp>
        <p:nvSpPr>
          <p:cNvPr id="7" name="Shape 4"/>
          <p:cNvSpPr/>
          <p:nvPr/>
        </p:nvSpPr>
        <p:spPr>
          <a:xfrm>
            <a:off x="609600" y="1727200"/>
            <a:ext cx="10972800" cy="3302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9600" y="1727200"/>
            <a:ext cx="38100" cy="33020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11" name="Shape 6"/>
          <p:cNvSpPr/>
          <p:nvPr/>
        </p:nvSpPr>
        <p:spPr>
          <a:xfrm>
            <a:off x="10718800" y="4978400"/>
            <a:ext cx="863600" cy="50800"/>
          </a:xfrm>
          <a:prstGeom prst="rect">
            <a:avLst/>
          </a:prstGeom>
          <a:solidFill>
            <a:srgbClr val="D3ECF0"/>
          </a:solidFill>
          <a:ln w="12700">
            <a:solidFill>
              <a:srgbClr val="D3ECF0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52200" y="4978400"/>
            <a:ext cx="330200" cy="508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14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15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7, 2026 · CCTSI</a:t>
            </a:r>
            <a:endParaRPr lang="ja-JP" sz="1200" dirty="0"/>
          </a:p>
        </p:txBody>
      </p:sp>
      <p:sp>
        <p:nvSpPr>
          <p:cNvPr id="16" name="Text 8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ROW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2098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4892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2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13" name="Shape 7"/>
          <p:cNvSpPr/>
          <p:nvPr/>
        </p:nvSpPr>
        <p:spPr>
          <a:xfrm>
            <a:off x="609600" y="35814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863600" y="38608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200" dirty="0"/>
          </a:p>
        </p:txBody>
      </p:sp>
      <p:sp>
        <p:nvSpPr>
          <p:cNvPr id="15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16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17" name="Shape 9"/>
          <p:cNvSpPr/>
          <p:nvPr/>
        </p:nvSpPr>
        <p:spPr>
          <a:xfrm>
            <a:off x="609600" y="49530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863600" y="52324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200" dirty="0"/>
          </a:p>
        </p:txBody>
      </p:sp>
      <p:sp>
        <p:nvSpPr>
          <p:cNvPr id="1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2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FLO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1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12" name="Shape 7"/>
          <p:cNvSpPr/>
          <p:nvPr/>
        </p:nvSpPr>
        <p:spPr>
          <a:xfrm>
            <a:off x="8636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 counts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approvals.</a:t>
            </a:r>
            <a:endParaRPr lang="ja-JP" sz="2000" dirty="0"/>
          </a:p>
        </p:txBody>
      </p:sp>
      <p:sp>
        <p:nvSpPr>
          <p:cNvPr id="14" name="Text 8"/>
          <p:cNvSpPr/>
          <p:nvPr/>
        </p:nvSpPr>
        <p:spPr>
          <a:xfrm>
            <a:off x="40767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15" name="Shape 9"/>
          <p:cNvSpPr/>
          <p:nvPr/>
        </p:nvSpPr>
        <p:spPr>
          <a:xfrm>
            <a:off x="43688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46228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100" dirty="0"/>
          </a:p>
        </p:txBody>
      </p:sp>
      <p:sp>
        <p:nvSpPr>
          <p:cNvPr id="1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18" name="Shape 11"/>
          <p:cNvSpPr/>
          <p:nvPr/>
        </p:nvSpPr>
        <p:spPr>
          <a:xfrm>
            <a:off x="46228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9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20" name="Text 12"/>
          <p:cNvSpPr/>
          <p:nvPr/>
        </p:nvSpPr>
        <p:spPr>
          <a:xfrm>
            <a:off x="78359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21" name="Shape 13"/>
          <p:cNvSpPr/>
          <p:nvPr/>
        </p:nvSpPr>
        <p:spPr>
          <a:xfrm>
            <a:off x="81280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83820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100" dirty="0"/>
          </a:p>
        </p:txBody>
      </p:sp>
      <p:sp>
        <p:nvSpPr>
          <p:cNvPr id="23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24" name="Shape 15"/>
          <p:cNvSpPr/>
          <p:nvPr/>
        </p:nvSpPr>
        <p:spPr>
          <a:xfrm>
            <a:off x="83820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25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26" name="Shape 16"/>
          <p:cNvSpPr/>
          <p:nvPr/>
        </p:nvSpPr>
        <p:spPr>
          <a:xfrm>
            <a:off x="609600" y="56261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609600" y="5613400"/>
            <a:ext cx="330200" cy="254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28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7, 2026 · CCTSI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Japan's networks, and why a CTSA hub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 has national hospital networks but no hub program. We came to see how one hub serves a whole state.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42 + 44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42 university hospitals form a council. It shares practice; it is not a hub.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NHO 140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NHO runs 140 hospitals with its own ARO and data center.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CCTSI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One hub serving universities, hospitals and communities statewide.</a:t>
            </a:r>
            <a:endParaRPr lang="ja-JP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Japan's Core Clinical Research Hospitals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legal status, not a grant. The Minister approves it; 16 hospitals hold it today.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Since 2015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Created in 2015. Approval and renewal follow published criteria.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status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Unlike a CTSA award, a status the hospital keeps until it fails the criteria.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Revised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points system was approved in August 2026; it applies from fiscal 2027.</a:t>
            </a:r>
            <a:endParaRPr lang="ja-JP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the criteria count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Three-year in-house counts decide approval. Support to other institutions is a floor, not a score.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Drug-approval trials led by the hospital's own PI, or 4 plus 40 other trials.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45 papers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Peer-reviewed English papers, in principle with a first author from the hospital itself.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 supports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 to other institutions is a fixed floor. Doing more earns nothing.</a:t>
            </a:r>
            <a:endParaRPr lang="ja-JP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happens as a result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Counting in-house output creates an incentive that works against the hub function.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Small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Hospitals launch small, easy-to-start trials and multiply papers to meet the thresholds.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Penalty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Every person or dollar moved to supporting others lowers the hospital's own metrics.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Floor stays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2026 revision keeps support as a floor; its effort was judged too hard to score.</a:t>
            </a:r>
            <a:endParaRPr lang="ja-JP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6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 counts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approvals.</a:t>
            </a:r>
            <a:endParaRPr lang="ja-JP" sz="2000" dirty="0"/>
          </a:p>
        </p:txBody>
      </p:sp>
      <p:sp>
        <p:nvSpPr>
          <p:cNvPr id="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8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9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10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11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Measured by our own yardstick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Apply the proposed axis to ourselves. None of this counts today; all of it enabled others' research.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Ptosh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EDC platform for academic trials; CDISC encoded at data entry.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NHO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CDISC adopted across the National Hospital Organization's multicenter trials.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aCRF.jp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Open annotated CRF library, and the JASPEHR group on EHR-to-research data.</a:t>
            </a:r>
            <a:endParaRPr lang="ja-JP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came to ask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Thirteen written questions in seven themes; you have grouped the answers for 10:10. DCRI sharpened three.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Value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Which numbers NCATS reacts to; how partners' research is credited (A–C).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People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 workforce and retention; at DCRI, culture and turnover under 6% (D).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System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How the hub relates to the AROs around it, and to data standards (E–G).</a:t>
            </a:r>
            <a:endParaRPr lang="ja-JP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most want to learn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One question is about the review; two are specific to you.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Review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decided your last renewal; which report numbers has NCATS acted on?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counted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in-house counts decided hub status, how would CCTSI and its partners change? (Q3)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Hub, ARO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At Duke the CTSA hub and DCRI barely meet. How do CCTSI and CPC relate?</a:t>
            </a:r>
            <a:endParaRPr lang="ja-JP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Thank you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toshikisaito@g.ecc.u-tokyo.ac.jp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Durham · Aurora · Nashville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ja-JP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Valuing the Hub Function (20-minute version, CCTSI)</dc:title>
  <dc:subject>UTokyo CRPC Slide System 1.1.0</dc:subject>
  <dc:creator/>
  <cp:lastModifiedBy/>
  <cp:revision>1</cp:revision>
  <dcterms:created xsi:type="dcterms:W3CDTF">2026-10-07T06:49:53Z</dcterms:created>
  <dcterms:modified xsi:type="dcterms:W3CDTF">2026-10-07T06:49:53Z</dcterms:modified>
</cp:coreProperties>
</file>